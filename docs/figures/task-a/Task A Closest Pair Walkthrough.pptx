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233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86EFA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 413 · PIONEER DELIVERY PART II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35250"/>
            <a:ext cx="10883392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3F4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 A: Closest Pair,</a:t>
            </a:r>
            <a:endParaRPr lang="en-US" sz="5600" dirty="0"/>
          </a:p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3F4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by Step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438277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A2: six delivery stops, one closest pair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the two closest stops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40"/>
            <a:ext cx="5486400" cy="4445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pic>
        <p:nvPicPr>
          <p:cNvPr id="4" name="Image 0" descr="The six points of test A2: A(0,0), B(7,2), C(4,5), D(5,5), E(12,2), F(2,9)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819150" y="1520190"/>
            <a:ext cx="5473700" cy="4432300"/>
          </a:xfrm>
          <a:prstGeom prst="roundRect">
            <a:avLst>
              <a:gd name="adj" fmla="val 2149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517015"/>
            <a:ext cx="5480050" cy="4438650"/>
          </a:xfrm>
          <a:prstGeom prst="roundRect">
            <a:avLst>
              <a:gd name="adj" fmla="val 2217"/>
            </a:avLst>
          </a:prstGeom>
          <a:noFill/>
          <a:ln w="6350">
            <a:solidFill>
              <a:srgbClr val="E2E1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05600" y="1513840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05600" y="1905000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 delivery stops from test A2.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05600" y="2367280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Measuring every pair: </a:t>
            </a:r>
            <a:r>
              <a:rPr lang="en-US" sz="16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pairs</a:t>
            </a: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here.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05600" y="2829560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100,000 stops: about </a:t>
            </a:r>
            <a:r>
              <a:rPr lang="en-US" sz="16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billion</a:t>
            </a: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pairs.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05600" y="3291840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Divide and conquer gets the same answer while skipping almost all of them.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05600" y="4038600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Expected answer: </a:t>
            </a:r>
            <a:r>
              <a:rPr lang="en-US" sz="16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C, D with d² = 1</a:t>
            </a: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232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PLAN IN ONE LINE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70480"/>
            <a:ext cx="10883392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 once, split down, solve the tiny groups, then </a:t>
            </a:r>
            <a:r>
              <a:rPr lang="en-US" sz="3600" b="1" i="0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choose, strip, and return</a:t>
            </a:r>
            <a:r>
              <a:rPr lang="en-US" sz="3600" b="1" i="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at each level going up.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5212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next slides show what each of those words means on test A2.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Sort once and split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9"/>
            <a:ext cx="5486400" cy="4445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pic>
        <p:nvPicPr>
          <p:cNvPr id="4" name="Image 0" descr="A dividing line at x = 4 splits A, F, C on the left from D, B, E on the right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819150" y="1520189"/>
            <a:ext cx="5473700" cy="4432300"/>
          </a:xfrm>
          <a:prstGeom prst="roundRect">
            <a:avLst>
              <a:gd name="adj" fmla="val 2149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517014"/>
            <a:ext cx="5480050" cy="4438650"/>
          </a:xfrm>
          <a:prstGeom prst="roundRect">
            <a:avLst>
              <a:gd name="adj" fmla="val 2217"/>
            </a:avLst>
          </a:prstGeom>
          <a:noFill/>
          <a:ln w="6350">
            <a:solidFill>
              <a:srgbClr val="E2E1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05600" y="1513839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GOING DOWN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05600" y="1905000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 by x: A, F, C, D, B, 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05600" y="2367280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Left half:</a:t>
            </a: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A, F, C.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41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Right half:</a:t>
            </a: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D, B, 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05600" y="3114039"/>
            <a:ext cx="4813808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line goes through C, the last left point, at x = 4. C stays left because of its place in the sorted list.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05600" y="4145280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Also sort by y, once: A, B, E, C, D, F. The y strip uses this later.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Solve each half, choose 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9"/>
            <a:ext cx="5486400" cy="4445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pic>
        <p:nvPicPr>
          <p:cNvPr id="4" name="Image 0" descr="Left half's best pair F–C at about 4.5, right half's best pair D–B at about 3.6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819150" y="1520189"/>
            <a:ext cx="5473700" cy="4432300"/>
          </a:xfrm>
          <a:prstGeom prst="roundRect">
            <a:avLst>
              <a:gd name="adj" fmla="val 2149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517014"/>
            <a:ext cx="5480050" cy="4438650"/>
          </a:xfrm>
          <a:prstGeom prst="roundRect">
            <a:avLst>
              <a:gd name="adj" fmla="val 2217"/>
            </a:avLst>
          </a:prstGeom>
          <a:noFill/>
          <a:ln w="6350">
            <a:solidFill>
              <a:srgbClr val="E2E1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05600" y="1513839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BOTTOM, THEN CHOOSE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05600" y="1905000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half has 3 points: small enough to measure every pair.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05600" y="2651761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Left best:</a:t>
            </a: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F–C ≈ 4.5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41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Right best:</a:t>
            </a: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D–B ≈ 3.6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05600" y="3398521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the closer one: </a:t>
            </a:r>
            <a:r>
              <a:rPr lang="en-US" sz="16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 ≈ 3.6</a:t>
            </a: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the best so far.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05600" y="3860800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But the real answer, C–D, crosses the line. Neither half can see 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The x strip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9"/>
            <a:ext cx="5486400" cy="4445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pic>
        <p:nvPicPr>
          <p:cNvPr id="4" name="Image 0" descr="A shaded band within d of the line keeps F, C, D and B; A and E are greyed out as too far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819150" y="1520189"/>
            <a:ext cx="5473700" cy="4432300"/>
          </a:xfrm>
          <a:prstGeom prst="roundRect">
            <a:avLst>
              <a:gd name="adj" fmla="val 2149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517014"/>
            <a:ext cx="5480050" cy="4438650"/>
          </a:xfrm>
          <a:prstGeom prst="roundRect">
            <a:avLst>
              <a:gd name="adj" fmla="val 2217"/>
            </a:avLst>
          </a:prstGeom>
          <a:noFill/>
          <a:ln w="6350">
            <a:solidFill>
              <a:srgbClr val="E2E1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05600" y="1513839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GOING UP: STRIP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05600" y="1905000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crossing pair closer than d must have both points within d of the line.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05600" y="2651761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only x from about 0.4 to 7.6.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05600" y="3114039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is 4 away and E is 8 away: both drop out.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05600" y="3576321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Left in the strip: </a:t>
            </a:r>
            <a:r>
              <a:rPr lang="en-US" sz="16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F, C, D, B</a:t>
            </a: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· The y strip: B’s turn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9"/>
            <a:ext cx="5486400" cy="4445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pic>
        <p:nvPicPr>
          <p:cNvPr id="4" name="Image 0" descr="B's y strip is a box from B's height up to d above it; C and D are inside, F is above it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819150" y="1520189"/>
            <a:ext cx="5473700" cy="4432300"/>
          </a:xfrm>
          <a:prstGeom prst="roundRect">
            <a:avLst>
              <a:gd name="adj" fmla="val 2149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517014"/>
            <a:ext cx="5480050" cy="4438650"/>
          </a:xfrm>
          <a:prstGeom prst="roundRect">
            <a:avLst>
              <a:gd name="adj" fmla="val 2217"/>
            </a:avLst>
          </a:prstGeom>
          <a:noFill/>
          <a:ln w="6350">
            <a:solidFill>
              <a:srgbClr val="E2E1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05600" y="1513839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GOING UP: STRIP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05600" y="1905000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 bottom to top: </a:t>
            </a:r>
            <a:r>
              <a:rPr lang="en-US" sz="16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B, C, D, F</a:t>
            </a: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This order comes free from the y sort.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05600" y="2651761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 looks only up to d above itself.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05600" y="3114039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 and D are inside: B–C ≈ 4.2, B–D ≈ 3.6. Not closer.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05600" y="3860800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 is 7 above B: </a:t>
            </a:r>
            <a:r>
              <a:rPr lang="en-US" sz="16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stop</a:t>
            </a: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Anything after F would be even higher.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· The y strip: C’s turn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9"/>
            <a:ext cx="5486400" cy="4445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pic>
        <p:nvPicPr>
          <p:cNvPr id="4" name="Image 0" descr="C finds D at distance 1; C's y strip shrinks from d about 3.6 to d = 1, and F is above it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819150" y="1520189"/>
            <a:ext cx="5473700" cy="4432300"/>
          </a:xfrm>
          <a:prstGeom prst="roundRect">
            <a:avLst>
              <a:gd name="adj" fmla="val 2149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517014"/>
            <a:ext cx="5480050" cy="4438650"/>
          </a:xfrm>
          <a:prstGeom prst="roundRect">
            <a:avLst>
              <a:gd name="adj" fmla="val 2217"/>
            </a:avLst>
          </a:prstGeom>
          <a:noFill/>
          <a:ln w="6350">
            <a:solidFill>
              <a:srgbClr val="E2E1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05600" y="1513839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GOING UP: STRIP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05600" y="1905000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 is inside C’s y strip: </a:t>
            </a:r>
            <a:r>
              <a:rPr lang="en-US" sz="16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C–D = 1</a:t>
            </a: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A new best.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05600" y="2367279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 drops to 1, so the y strip shrinks to 1 above C.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05600" y="2829561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 is 4 above C: </a:t>
            </a:r>
            <a:r>
              <a:rPr lang="en-US" sz="16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stop</a:t>
            </a: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05600" y="3291839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D’s turn: F is 4 above, more than 1, so stop. F has nothing above it.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· The answer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42"/>
            <a:ext cx="5486400" cy="4445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pic>
        <p:nvPicPr>
          <p:cNvPr id="4" name="Image 0" descr="C and D joined by a green line across the dividing line, with d squared = 1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819150" y="1520192"/>
            <a:ext cx="5473700" cy="4432300"/>
          </a:xfrm>
          <a:prstGeom prst="roundRect">
            <a:avLst>
              <a:gd name="adj" fmla="val 2149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517017"/>
            <a:ext cx="5480050" cy="4438650"/>
          </a:xfrm>
          <a:prstGeom prst="roundRect">
            <a:avLst>
              <a:gd name="adj" fmla="val 2217"/>
            </a:avLst>
          </a:prstGeom>
          <a:noFill/>
          <a:ln w="6350">
            <a:solidFill>
              <a:srgbClr val="E2E1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05600" y="1513842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05600" y="1905000"/>
            <a:ext cx="481380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C, D with d² = 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705600" y="2446021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matches the expected result.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05600" y="2908300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pair crosses the line, which is exactly why the strip check exists.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05600" y="3655058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Pairs measured: 3 + 3 in the halves, 3 in the strip. </a:t>
            </a:r>
            <a:r>
              <a:rPr lang="en-US" sz="16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instead of 15.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points: split again and again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42"/>
            <a:ext cx="5486400" cy="4445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pic>
        <p:nvPicPr>
          <p:cNvPr id="4" name="Image 0" descr="Twelve points in four colored groups of three, separated by one split 1 line and two split 2 lines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819150" y="1520192"/>
            <a:ext cx="5473700" cy="4432300"/>
          </a:xfrm>
          <a:prstGeom prst="roundRect">
            <a:avLst>
              <a:gd name="adj" fmla="val 2149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517017"/>
            <a:ext cx="5480050" cy="4438650"/>
          </a:xfrm>
          <a:prstGeom prst="roundRect">
            <a:avLst>
              <a:gd name="adj" fmla="val 2217"/>
            </a:avLst>
          </a:prstGeom>
          <a:noFill/>
          <a:ln w="6350">
            <a:solidFill>
              <a:srgbClr val="E2E1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05600" y="1513842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TWELVE POINTS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05600" y="1905000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 1 makes two groups of 6. Split 2 makes four groups of 3, one per color.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05600" y="2651758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group of 3 is measured directly.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05600" y="3114042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Going up, each split 2 line runs its own choose, strip, return first. Split 1 runs last.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05600" y="3860800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crossing pair is caught at the split that first separated its two points.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7612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6EFA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SKIPPING IS SAFE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94279"/>
            <a:ext cx="10883392" cy="1000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F3F4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distance between two points is at least their left-right gap, and at least their up-down gap.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774442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 strip:</a:t>
            </a:r>
            <a:r>
              <a:rPr lang="en-US" sz="160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more than d from the line means more than d from anything across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18592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 strip:</a:t>
            </a:r>
            <a:r>
              <a:rPr lang="en-US" sz="160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 or more above means at least d away.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5974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Skipped points aren’t lost: pairs among them were already checked inside their own halves.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it’s fast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618617"/>
            <a:ext cx="3380317" cy="2409190"/>
          </a:xfrm>
          <a:prstGeom prst="roundRect">
            <a:avLst>
              <a:gd name="adj" fmla="val 4085"/>
            </a:avLst>
          </a:prstGeom>
          <a:solidFill>
            <a:srgbClr val="FFFFFF"/>
          </a:solidFill>
          <a:ln w="6350">
            <a:solidFill>
              <a:srgbClr val="E2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1926592"/>
            <a:ext cx="2847298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≤ 7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23950" y="2866392"/>
            <a:ext cx="2847298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checks per strip point, because points on one side can’t crowd together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5842" y="1618617"/>
            <a:ext cx="3380317" cy="2409190"/>
          </a:xfrm>
          <a:prstGeom prst="roundRect">
            <a:avLst>
              <a:gd name="adj" fmla="val 4085"/>
            </a:avLst>
          </a:prstGeom>
          <a:solidFill>
            <a:srgbClr val="FFFFFF"/>
          </a:solidFill>
          <a:ln w="6350">
            <a:solidFill>
              <a:srgbClr val="E2E1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13817" y="1926592"/>
            <a:ext cx="2847298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17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713817" y="2866392"/>
            <a:ext cx="2847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levels of splitting for 100,000 points, halving each time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5708" y="1618617"/>
            <a:ext cx="3380317" cy="2409190"/>
          </a:xfrm>
          <a:prstGeom prst="roundRect">
            <a:avLst>
              <a:gd name="adj" fmla="val 4085"/>
            </a:avLst>
          </a:prstGeom>
          <a:solidFill>
            <a:srgbClr val="FFFFFF"/>
          </a:solidFill>
          <a:ln w="6350">
            <a:solidFill>
              <a:srgbClr val="E2E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3683" y="1926592"/>
            <a:ext cx="2847298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580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303683" y="2866392"/>
            <a:ext cx="2847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sort, done once at the start; splits keep the order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4386579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About n work per level × about log n levels = </a:t>
            </a:r>
            <a:r>
              <a:rPr lang="en-US" sz="18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log n</a:t>
            </a:r>
            <a:r>
              <a:rPr lang="en-US" sz="18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For 100,000 points: a few million steps instead of about 5 billion.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93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steps in order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1161" y="1564642"/>
            <a:ext cx="10867411" cy="2014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5639" indent="-245639">
              <a:lnSpc>
                <a:spcPts val="2610"/>
              </a:lnSpc>
              <a:buSzPct val="100000"/>
              <a:buFontTx/>
              <a:buAutoNum type="arabicPeriod" startAt="1"/>
            </a:pPr>
            <a:r>
              <a:rPr lang="en-US" sz="18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Once:</a:t>
            </a:r>
            <a:r>
              <a:rPr lang="en-US" sz="18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sort the points by x and by y.</a:t>
            </a:r>
            <a:endParaRPr lang="en-US" sz="1800" dirty="0"/>
          </a:p>
          <a:p>
            <a:pPr algn="l" marL="245639" indent="-245639">
              <a:lnSpc>
                <a:spcPts val="2610"/>
              </a:lnSpc>
              <a:buSzPct val="100000"/>
              <a:buFontTx/>
              <a:buAutoNum type="arabicPeriod" startAt="1"/>
            </a:pPr>
            <a:r>
              <a:rPr lang="en-US" sz="18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Going down:</a:t>
            </a:r>
            <a:r>
              <a:rPr lang="en-US" sz="18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split at a dividing line, keeping both sorted orders. Repeat until each group has 3 or fewer points.</a:t>
            </a:r>
            <a:endParaRPr lang="en-US" sz="1800" dirty="0"/>
          </a:p>
          <a:p>
            <a:pPr algn="l" marL="245639" indent="-245639">
              <a:lnSpc>
                <a:spcPts val="2610"/>
              </a:lnSpc>
              <a:buSzPct val="100000"/>
              <a:buFontTx/>
              <a:buAutoNum type="arabicPeriod" startAt="1"/>
            </a:pPr>
            <a:r>
              <a:rPr lang="en-US" sz="18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Bottom:</a:t>
            </a:r>
            <a:r>
              <a:rPr lang="en-US" sz="18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measure every pair in each tiny group.</a:t>
            </a:r>
            <a:endParaRPr lang="en-US" sz="1800" dirty="0"/>
          </a:p>
          <a:p>
            <a:pPr algn="l" marL="245639" indent="-245639">
              <a:lnSpc>
                <a:spcPts val="2610"/>
              </a:lnSpc>
              <a:buSzPct val="100000"/>
              <a:buFontTx/>
              <a:buAutoNum type="arabicPeriod" startAt="1"/>
            </a:pPr>
            <a:r>
              <a:rPr lang="en-US" sz="18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Going up, at each split:</a:t>
            </a:r>
            <a:r>
              <a:rPr lang="en-US" sz="18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choose d → x strip → y strip → return the best pair.</a:t>
            </a:r>
            <a:endParaRPr lang="en-US" sz="1800" dirty="0"/>
          </a:p>
          <a:p>
            <a:pPr algn="l" marL="245639" indent="-245639">
              <a:lnSpc>
                <a:spcPts val="2610"/>
              </a:lnSpc>
              <a:buSzPct val="100000"/>
              <a:buFontTx/>
              <a:buAutoNum type="arabicPeriod" startAt="1"/>
            </a:pPr>
            <a:r>
              <a:rPr lang="en-US" sz="1800" b="1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Top:</a:t>
            </a:r>
            <a:r>
              <a:rPr lang="en-US" sz="18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final combine gives the answer.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3858258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code compares squared distances (13 instead of about 3.6): same answers, no square roots.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sk A: Closest Pair Walkthrough">
  <a:themeElements>
    <a:clrScheme name="Task A: Closest Pair Walkthrough">
      <a:dk1>
        <a:srgbClr val="374151"/>
      </a:dk1>
      <a:lt1>
        <a:srgbClr val="F6F5F0"/>
      </a:lt1>
      <a:dk2>
        <a:srgbClr val="676E79"/>
      </a:dk2>
      <a:lt2>
        <a:srgbClr val="E3E3E0"/>
      </a:lt2>
      <a:accent1>
        <a:srgbClr val="15803D"/>
      </a:accent1>
      <a:accent2>
        <a:srgbClr val="86EFAC"/>
      </a:accent2>
      <a:accent3>
        <a:srgbClr val="1F2937"/>
      </a:accent3>
      <a:accent4>
        <a:srgbClr val="CBD5E1"/>
      </a:accent4>
      <a:accent5>
        <a:srgbClr val="9AA0A6"/>
      </a:accent5>
      <a:accent6>
        <a:srgbClr val="838991"/>
      </a:accent6>
      <a:hlink>
        <a:srgbClr val="0563C1"/>
      </a:hlink>
      <a:folHlink>
        <a:srgbClr val="954F72"/>
      </a:folHlink>
    </a:clrScheme>
    <a:fontScheme name="Task A: Closest Pair Walkthrough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A: Closest Pair Walkthrough</dc:title>
  <dc:subject/>
  <dc:creator/>
  <cp:lastModifiedBy/>
  <cp:revision>1</cp:revision>
  <dcterms:created xsi:type="dcterms:W3CDTF">2026-10-20T16:03:03Z</dcterms:created>
  <dcterms:modified xsi:type="dcterms:W3CDTF">2026-10-20T16:03:03Z</dcterms:modified>
</cp:coreProperties>
</file>